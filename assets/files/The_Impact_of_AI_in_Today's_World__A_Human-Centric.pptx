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57250" y="1664494"/>
            <a:ext cx="3786188" cy="1414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72000"/>
              </a:lnSpc>
              <a:buNone/>
            </a:pPr>
            <a:r>
              <a:rPr lang="en-US" sz="5700" b="1" spc="-2" kern="0" dirty="0">
                <a:solidFill>
                  <a:srgbClr val="FFFFFF"/>
                </a:solidFill>
                <a:latin typeface="Bodoni Moda Black" pitchFamily="34" charset="0"/>
                <a:ea typeface="Bodoni Moda Black" pitchFamily="34" charset="-122"/>
                <a:cs typeface="Bodoni Moda Black" pitchFamily="34" charset="-120"/>
              </a:rPr>
              <a:t>IMPACT</a:t>
            </a:r>
            <a:r>
              <a:rPr lang="en-US" sz="5700" b="1" spc="-2" kern="0" dirty="0">
                <a:solidFill>
                  <a:srgbClr val="FFFFFF"/>
                </a:solidFill>
                <a:latin typeface="Bodoni Moda Black" pitchFamily="34" charset="0"/>
                <a:ea typeface="Bodoni Moda Black" pitchFamily="34" charset="-122"/>
                <a:cs typeface="Bodoni Moda Black" pitchFamily="34" charset="-120"/>
              </a:rPr>
              <a:t>
</a:t>
            </a:r>
            <a:r>
              <a:rPr lang="en-US" sz="5700" b="1" spc="-2" kern="0" dirty="0">
                <a:solidFill>
                  <a:srgbClr val="FFFFFF"/>
                </a:solidFill>
                <a:latin typeface="Bodoni Moda Black" pitchFamily="34" charset="0"/>
                <a:ea typeface="Bodoni Moda Black" pitchFamily="34" charset="-122"/>
                <a:cs typeface="Bodoni Moda Black" pitchFamily="34" charset="-120"/>
              </a:rPr>
              <a:t>OF AI</a:t>
            </a:r>
            <a:endParaRPr lang="en-US" sz="5700" dirty="0"/>
          </a:p>
        </p:txBody>
      </p:sp>
      <p:sp>
        <p:nvSpPr>
          <p:cNvPr id="5" name="Text 1"/>
          <p:cNvSpPr/>
          <p:nvPr/>
        </p:nvSpPr>
        <p:spPr>
          <a:xfrm>
            <a:off x="857250" y="3221831"/>
            <a:ext cx="378618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spc="5" kern="0" dirty="0">
                <a:solidFill>
                  <a:srgbClr val="FFFFFF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A HUMAN-CENTRIC PERSPECTIVE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857250" y="4707731"/>
            <a:ext cx="249852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spc="2" kern="0" dirty="0">
                <a:solidFill>
                  <a:srgbClr val="FFFFFF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THE HUMAN SIDE OF INTELLIGENCE • 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44862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spc="2" kern="0" dirty="0">
                <a:solidFill>
                  <a:srgbClr val="A0907A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AUGMENTATION STRATEGY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571500" y="864394"/>
            <a:ext cx="4486275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2C2C2C"/>
                </a:solidFill>
                <a:latin typeface="Bodoni Moda Bold" pitchFamily="34" charset="0"/>
                <a:ea typeface="Bodoni Moda Bold" pitchFamily="34" charset="-122"/>
                <a:cs typeface="Bodoni Moda Bold" pitchFamily="34" charset="-120"/>
              </a:rPr>
              <a:t>Rise of Human-Centric AI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71500" y="2305980"/>
            <a:ext cx="44862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spc="2" kern="0" dirty="0">
                <a:solidFill>
                  <a:srgbClr val="2C2C2C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CO-PILOT VS. AUTOPILOT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71500" y="2548868"/>
            <a:ext cx="44862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AI acts as an intelligent assistant that empowers humans to make better, faster, and more informed decisions.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71500" y="3278925"/>
            <a:ext cx="44862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spc="2" kern="0" dirty="0">
                <a:solidFill>
                  <a:srgbClr val="2C2C2C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AUGMENTATION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71500" y="3521813"/>
            <a:ext cx="44862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Enhancing human creativity and emotional intelligence rather than seeking to replace the human element.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71500" y="4251871"/>
            <a:ext cx="44862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spc="2" kern="0" dirty="0">
                <a:solidFill>
                  <a:srgbClr val="2C2C2C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PURPOSE-DRIVEN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71500" y="4494758"/>
            <a:ext cx="44862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Aligning AI development with core human needs and the long-term well-being of our global society.</a:t>
            </a:r>
            <a:endParaRPr lang="en-US" sz="8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0"/>
            <a:ext cx="36576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034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36719" y="-142875"/>
            <a:ext cx="821531" cy="19288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350" b="1" dirty="0">
                <a:solidFill>
                  <a:srgbClr val="3A3A3A">
                    <a:alpha val="5000"/>
                  </a:srgbClr>
                </a:solidFill>
                <a:latin typeface="Bodoni Moda Black" pitchFamily="34" charset="0"/>
                <a:ea typeface="Bodoni Moda Black" pitchFamily="34" charset="-122"/>
                <a:cs typeface="Bodoni Moda Black" pitchFamily="34" charset="-120"/>
              </a:rPr>
              <a:t>F</a:t>
            </a:r>
            <a:endParaRPr lang="en-US" sz="9350" dirty="0"/>
          </a:p>
        </p:txBody>
      </p:sp>
      <p:sp>
        <p:nvSpPr>
          <p:cNvPr id="4" name="Text 1"/>
          <p:cNvSpPr/>
          <p:nvPr/>
        </p:nvSpPr>
        <p:spPr>
          <a:xfrm>
            <a:off x="285750" y="285750"/>
            <a:ext cx="40576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C7A6B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AI ETHICS &amp; ACCOUNTABILITY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285750" y="571500"/>
            <a:ext cx="405765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750" b="1" dirty="0">
                <a:solidFill>
                  <a:srgbClr val="3A3A3A"/>
                </a:solidFill>
                <a:latin typeface="Bodoni Moda Black" pitchFamily="34" charset="0"/>
                <a:ea typeface="Bodoni Moda Black" pitchFamily="34" charset="-122"/>
                <a:cs typeface="Bodoni Moda Black" pitchFamily="34" charset="-120"/>
              </a:rPr>
              <a:t>The Pillars of Trust</a:t>
            </a:r>
            <a:endParaRPr lang="en-US" sz="3750" dirty="0"/>
          </a:p>
        </p:txBody>
      </p:sp>
      <p:sp>
        <p:nvSpPr>
          <p:cNvPr id="6" name="Text 3"/>
          <p:cNvSpPr/>
          <p:nvPr/>
        </p:nvSpPr>
        <p:spPr>
          <a:xfrm>
            <a:off x="285750" y="1714500"/>
            <a:ext cx="405765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Trust is the foundation of the AI era, built on a robust ecosystem of ethical principles that ensure technology remains a force for good.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285750" y="2471738"/>
            <a:ext cx="4057650" cy="925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800" b="1" dirty="0">
                <a:solidFill>
                  <a:srgbClr val="8C7A6B"/>
                </a:solidFill>
                <a:latin typeface="Bodoni Moda Bold" pitchFamily="34" charset="0"/>
                <a:ea typeface="Bodoni Moda Bold" pitchFamily="34" charset="-122"/>
                <a:cs typeface="Bodoni Moda Bold" pitchFamily="34" charset="-120"/>
              </a:rPr>
              <a:t>"Trust is not a feature; it is the foundation of human-AI synergy."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85750" y="3511851"/>
            <a:ext cx="19716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A3A"/>
                </a:solidFill>
                <a:latin typeface="Bodoni Moda Bold" pitchFamily="34" charset="0"/>
                <a:ea typeface="Bodoni Moda Bold" pitchFamily="34" charset="-122"/>
                <a:cs typeface="Bodoni Moda Bold" pitchFamily="34" charset="-120"/>
              </a:rPr>
              <a:t>Transparency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85750" y="3797601"/>
            <a:ext cx="19716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Moving away from "black box" systems to understandable logic.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371725" y="3511851"/>
            <a:ext cx="19716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A3A"/>
                </a:solidFill>
                <a:latin typeface="Bodoni Moda Bold" pitchFamily="34" charset="0"/>
                <a:ea typeface="Bodoni Moda Bold" pitchFamily="34" charset="-122"/>
                <a:cs typeface="Bodoni Moda Bold" pitchFamily="34" charset="-120"/>
              </a:rPr>
              <a:t>Fairness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371725" y="3797601"/>
            <a:ext cx="19716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Actively identifying and removing algorithmic bias.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85750" y="4271935"/>
            <a:ext cx="19716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A3A"/>
                </a:solidFill>
                <a:latin typeface="Bodoni Moda Bold" pitchFamily="34" charset="0"/>
                <a:ea typeface="Bodoni Moda Bold" pitchFamily="34" charset="-122"/>
                <a:cs typeface="Bodoni Moda Bold" pitchFamily="34" charset="-120"/>
              </a:rPr>
              <a:t>Human Control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85750" y="4557685"/>
            <a:ext cx="19716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Ensuring humans always have the final say in high-stakes calls.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371725" y="4271935"/>
            <a:ext cx="19716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A3A"/>
                </a:solidFill>
                <a:latin typeface="Bodoni Moda Bold" pitchFamily="34" charset="0"/>
                <a:ea typeface="Bodoni Moda Bold" pitchFamily="34" charset="-122"/>
                <a:cs typeface="Bodoni Moda Bold" pitchFamily="34" charset="-120"/>
              </a:rPr>
              <a:t>Privacy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371725" y="4557685"/>
            <a:ext cx="19716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Enforcing strict data permissions and governance layers.</a:t>
            </a:r>
            <a:endParaRPr lang="en-US" sz="9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172970"/>
            <a:ext cx="405765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11691" y="-142875"/>
            <a:ext cx="1046559" cy="19288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350" b="1" dirty="0">
                <a:solidFill>
                  <a:srgbClr val="3A3A3A">
                    <a:alpha val="5000"/>
                  </a:srgbClr>
                </a:solidFill>
                <a:latin typeface="Bodoni Moda Black" pitchFamily="34" charset="0"/>
                <a:ea typeface="Bodoni Moda Black" pitchFamily="34" charset="-122"/>
                <a:cs typeface="Bodoni Moda Black" pitchFamily="34" charset="-120"/>
              </a:rPr>
              <a:t>D</a:t>
            </a:r>
            <a:endParaRPr lang="en-US" sz="9350" dirty="0"/>
          </a:p>
        </p:txBody>
      </p:sp>
      <p:sp>
        <p:nvSpPr>
          <p:cNvPr id="4" name="Text 1"/>
          <p:cNvSpPr/>
          <p:nvPr/>
        </p:nvSpPr>
        <p:spPr>
          <a:xfrm>
            <a:off x="285750" y="790110"/>
            <a:ext cx="40576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C7A6B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HEALTHCARE REVOLUTION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285750" y="1075860"/>
            <a:ext cx="405765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750" b="1" dirty="0">
                <a:solidFill>
                  <a:srgbClr val="3A3A3A"/>
                </a:solidFill>
                <a:latin typeface="Bodoni Moda Black" pitchFamily="34" charset="0"/>
                <a:ea typeface="Bodoni Moda Black" pitchFamily="34" charset="-122"/>
                <a:cs typeface="Bodoni Moda Black" pitchFamily="34" charset="-120"/>
              </a:rPr>
              <a:t>AI as a Digital Life-Saver</a:t>
            </a:r>
            <a:endParaRPr lang="en-US" sz="3750" dirty="0"/>
          </a:p>
        </p:txBody>
      </p:sp>
      <p:sp>
        <p:nvSpPr>
          <p:cNvPr id="6" name="Text 3"/>
          <p:cNvSpPr/>
          <p:nvPr/>
        </p:nvSpPr>
        <p:spPr>
          <a:xfrm>
            <a:off x="285750" y="2218860"/>
            <a:ext cx="405765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AI is bridging the global healthcare gap by augmenting clinical expertise and enabling early detection of life-threatening conditions.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285750" y="2976097"/>
            <a:ext cx="4057650" cy="617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800" b="1" dirty="0">
                <a:solidFill>
                  <a:srgbClr val="8C7A6B"/>
                </a:solidFill>
                <a:latin typeface="Bodoni Moda Bold" pitchFamily="34" charset="0"/>
                <a:ea typeface="Bodoni Moda Bold" pitchFamily="34" charset="-122"/>
                <a:cs typeface="Bodoni Moda Bold" pitchFamily="34" charset="-120"/>
              </a:rPr>
              <a:t>"AI is the most powerful stethoscope ever invented."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85750" y="3707606"/>
            <a:ext cx="19716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A3A"/>
                </a:solidFill>
                <a:latin typeface="Bodoni Moda Bold" pitchFamily="34" charset="0"/>
                <a:ea typeface="Bodoni Moda Bold" pitchFamily="34" charset="-122"/>
                <a:cs typeface="Bodoni Moda Bold" pitchFamily="34" charset="-120"/>
              </a:rPr>
              <a:t>Diagnostic Precision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85750" y="3993356"/>
            <a:ext cx="19716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Twice as accurate in interpreting brain scans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371725" y="3707606"/>
            <a:ext cx="19716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A3A"/>
                </a:solidFill>
                <a:latin typeface="Bodoni Moda Bold" pitchFamily="34" charset="0"/>
                <a:ea typeface="Bodoni Moda Bold" pitchFamily="34" charset="-122"/>
                <a:cs typeface="Bodoni Moda Bold" pitchFamily="34" charset="-120"/>
              </a:rPr>
              <a:t>Early Detection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371725" y="3993356"/>
            <a:ext cx="19716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Spotting signs of 1,000+ diseases years early</a:t>
            </a:r>
            <a:endParaRPr lang="en-US" sz="9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785813"/>
            <a:ext cx="4286250" cy="35718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452930"/>
            <a:ext cx="38862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C7A6B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PROFESSIONAL EMPOWERMENT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342900" y="738680"/>
            <a:ext cx="38862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750" b="1" dirty="0">
                <a:solidFill>
                  <a:srgbClr val="3A3A3A"/>
                </a:solidFill>
                <a:latin typeface="Bodoni Moda Black" pitchFamily="34" charset="0"/>
                <a:ea typeface="Bodoni Moda Black" pitchFamily="34" charset="-122"/>
                <a:cs typeface="Bodoni Moda Black" pitchFamily="34" charset="-120"/>
              </a:rPr>
              <a:t>The Future of Work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342900" y="1995980"/>
            <a:ext cx="388620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AI co-pilots are redefining productivity by handling routine tasks, allowing humans to focus on high-value strategy and creative problem-solving.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342900" y="2810368"/>
            <a:ext cx="18573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8C7A6B"/>
                </a:solidFill>
                <a:latin typeface="Bodoni Moda Bold" pitchFamily="34" charset="0"/>
                <a:ea typeface="Bodoni Moda Bold" pitchFamily="34" charset="-122"/>
                <a:cs typeface="Bodoni Moda Bold" pitchFamily="34" charset="-120"/>
              </a:rPr>
              <a:t>GitHub Copilot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42900" y="3124693"/>
            <a:ext cx="185737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Real-time pair programming assistance for faster software development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2371725" y="2810368"/>
            <a:ext cx="18573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8C7A6B"/>
                </a:solidFill>
                <a:latin typeface="Bodoni Moda Bold" pitchFamily="34" charset="0"/>
                <a:ea typeface="Bodoni Moda Bold" pitchFamily="34" charset="-122"/>
                <a:cs typeface="Bodoni Moda Bold" pitchFamily="34" charset="-120"/>
              </a:rPr>
              <a:t>Efficiency Gains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371725" y="3124693"/>
            <a:ext cx="18573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Automating documentation and routine coding tasks seamlessly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42900" y="3836194"/>
            <a:ext cx="18573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8C7A6B"/>
                </a:solidFill>
                <a:latin typeface="Bodoni Moda Bold" pitchFamily="34" charset="0"/>
                <a:ea typeface="Bodoni Moda Bold" pitchFamily="34" charset="-122"/>
                <a:cs typeface="Bodoni Moda Bold" pitchFamily="34" charset="-120"/>
              </a:rPr>
              <a:t>Skill Evolution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42900" y="4150519"/>
            <a:ext cx="185737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Shifting workforce focus toward architectural and strategic thinking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371725" y="3836194"/>
            <a:ext cx="18573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8C7A6B"/>
                </a:solidFill>
                <a:latin typeface="Bodoni Moda Bold" pitchFamily="34" charset="0"/>
                <a:ea typeface="Bodoni Moda Bold" pitchFamily="34" charset="-122"/>
                <a:cs typeface="Bodoni Moda Bold" pitchFamily="34" charset="-120"/>
              </a:rPr>
              <a:t>Human Oversight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371725" y="4150519"/>
            <a:ext cx="18573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Ensuring final accountability and ethical judgment remain human</a:t>
            </a:r>
            <a:endParaRPr lang="en-US" sz="9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0613" y="607219"/>
            <a:ext cx="3571875" cy="39290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52917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97428" y="-142875"/>
            <a:ext cx="860822" cy="19288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350" b="1" dirty="0">
                <a:solidFill>
                  <a:srgbClr val="3A3A3A">
                    <a:alpha val="5000"/>
                  </a:srgbClr>
                </a:solidFill>
                <a:latin typeface="Bodoni Moda Black" pitchFamily="34" charset="0"/>
                <a:ea typeface="Bodoni Moda Black" pitchFamily="34" charset="-122"/>
                <a:cs typeface="Bodoni Moda Black" pitchFamily="34" charset="-120"/>
              </a:rPr>
              <a:t>E</a:t>
            </a:r>
            <a:endParaRPr lang="en-US" sz="9350" dirty="0"/>
          </a:p>
        </p:txBody>
      </p:sp>
      <p:sp>
        <p:nvSpPr>
          <p:cNvPr id="4" name="Text 1"/>
          <p:cNvSpPr/>
          <p:nvPr/>
        </p:nvSpPr>
        <p:spPr>
          <a:xfrm>
            <a:off x="285750" y="285750"/>
            <a:ext cx="40576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C7A6B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HUMAN-CENTRIC SERVICE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285750" y="571500"/>
            <a:ext cx="405765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750" b="1" dirty="0">
                <a:solidFill>
                  <a:srgbClr val="3A3A3A"/>
                </a:solidFill>
                <a:latin typeface="Bodoni Moda Black" pitchFamily="34" charset="0"/>
                <a:ea typeface="Bodoni Moda Black" pitchFamily="34" charset="-122"/>
                <a:cs typeface="Bodoni Moda Black" pitchFamily="34" charset="-120"/>
              </a:rPr>
              <a:t>AI in Customer Experience</a:t>
            </a:r>
            <a:endParaRPr lang="en-US" sz="3750" dirty="0"/>
          </a:p>
        </p:txBody>
      </p:sp>
      <p:sp>
        <p:nvSpPr>
          <p:cNvPr id="6" name="Text 3"/>
          <p:cNvSpPr/>
          <p:nvPr/>
        </p:nvSpPr>
        <p:spPr>
          <a:xfrm>
            <a:off x="285750" y="1714500"/>
            <a:ext cx="405765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Modern AI systems are learning to recognize human emotion, ensuring that technology serves with a "human touch" rather than rigid automation.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57200" y="2461022"/>
            <a:ext cx="3505795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8C7A6B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"The best customer service is if the customer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2701035"/>
            <a:ext cx="3814763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8C7A6B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doesn't need to call you, it doesn't need to talk to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2941048"/>
            <a:ext cx="1437680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8C7A6B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you. It just works."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3220352"/>
            <a:ext cx="38862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14286"/>
              </a:lnSpc>
              <a:buNone/>
            </a:pPr>
            <a:r>
              <a:rPr lang="en-US" sz="750" i="1" dirty="0">
                <a:solidFill>
                  <a:srgbClr val="8C7A6B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— Jeff Bezos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285750" y="3477527"/>
            <a:ext cx="19716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A3A"/>
                </a:solidFill>
                <a:latin typeface="Bodoni Moda Bold" pitchFamily="34" charset="0"/>
                <a:ea typeface="Bodoni Moda Bold" pitchFamily="34" charset="-122"/>
                <a:cs typeface="Bodoni Moda Bold" pitchFamily="34" charset="-120"/>
              </a:rPr>
              <a:t>Sentiment Awareness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85750" y="3763277"/>
            <a:ext cx="197167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AI detects frustration or distress and hands off to humans when needed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371725" y="3477527"/>
            <a:ext cx="19716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A3A"/>
                </a:solidFill>
                <a:latin typeface="Bodoni Moda Bold" pitchFamily="34" charset="0"/>
                <a:ea typeface="Bodoni Moda Bold" pitchFamily="34" charset="-122"/>
                <a:cs typeface="Bodoni Moda Bold" pitchFamily="34" charset="-120"/>
              </a:rPr>
              <a:t>Context Preservation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371725" y="3763277"/>
            <a:ext cx="19716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Seamless transitions so customers never have to repeat themselves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85750" y="4417628"/>
            <a:ext cx="19716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A3A"/>
                </a:solidFill>
                <a:latin typeface="Bodoni Moda Bold" pitchFamily="34" charset="0"/>
                <a:ea typeface="Bodoni Moda Bold" pitchFamily="34" charset="-122"/>
                <a:cs typeface="Bodoni Moda Bold" pitchFamily="34" charset="-120"/>
              </a:rPr>
              <a:t>Natural Interactions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85750" y="4703378"/>
            <a:ext cx="197167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Moving beyond rigid scripts to context-aware, human-like conversations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2371725" y="4417628"/>
            <a:ext cx="19716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A3A"/>
                </a:solidFill>
                <a:latin typeface="Bodoni Moda Bold" pitchFamily="34" charset="0"/>
                <a:ea typeface="Bodoni Moda Bold" pitchFamily="34" charset="-122"/>
                <a:cs typeface="Bodoni Moda Bold" pitchFamily="34" charset="-120"/>
              </a:rPr>
              <a:t>Empathetic Design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371725" y="4703378"/>
            <a:ext cx="197167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Prioritizing the customer's emotional state in every interaction</a:t>
            </a:r>
            <a:endParaRPr lang="en-US" sz="95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188" y="978638"/>
            <a:ext cx="3571875" cy="35718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377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38862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C7A6B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STRATEGIC GROWTH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342900" y="628650"/>
            <a:ext cx="3886200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750" b="1" dirty="0">
                <a:solidFill>
                  <a:srgbClr val="3A3A3A"/>
                </a:solidFill>
                <a:latin typeface="Bodoni Moda Black" pitchFamily="34" charset="0"/>
                <a:ea typeface="Bodoni Moda Black" pitchFamily="34" charset="-122"/>
                <a:cs typeface="Bodoni Moda Black" pitchFamily="34" charset="-120"/>
              </a:rPr>
              <a:t>Intelligent Business Strategy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342900" y="2400300"/>
            <a:ext cx="388620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AI-driven insights are helping businesses build deeper, more authentic customer relationships by providing high-context strategies grounded in real-time data.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342900" y="3214688"/>
            <a:ext cx="18573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8C7A6B"/>
                </a:solidFill>
                <a:latin typeface="Bodoni Moda Bold" pitchFamily="34" charset="0"/>
                <a:ea typeface="Bodoni Moda Bold" pitchFamily="34" charset="-122"/>
                <a:cs typeface="Bodoni Moda Bold" pitchFamily="34" charset="-120"/>
              </a:rPr>
              <a:t>Salesforce Einstein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42900" y="3529013"/>
            <a:ext cx="185737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Using years of CRM data to generate tailored outreach strategies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2371725" y="3214688"/>
            <a:ext cx="18573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8C7A6B"/>
                </a:solidFill>
                <a:latin typeface="Bodoni Moda Bold" pitchFamily="34" charset="0"/>
                <a:ea typeface="Bodoni Moda Bold" pitchFamily="34" charset="-122"/>
                <a:cs typeface="Bodoni Moda Bold" pitchFamily="34" charset="-120"/>
              </a:rPr>
              <a:t>Explainable Insights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371725" y="3529013"/>
            <a:ext cx="185737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Providing the "why" behind every suggested business move for clarity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42900" y="4240513"/>
            <a:ext cx="18573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8C7A6B"/>
                </a:solidFill>
                <a:latin typeface="Bodoni Moda Bold" pitchFamily="34" charset="0"/>
                <a:ea typeface="Bodoni Moda Bold" pitchFamily="34" charset="-122"/>
                <a:cs typeface="Bodoni Moda Bold" pitchFamily="34" charset="-120"/>
              </a:rPr>
              <a:t>Trust Layers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42900" y="4554838"/>
            <a:ext cx="185737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Enforcing strict data permissions and privacy while scaling operations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371725" y="4240513"/>
            <a:ext cx="18573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8C7A6B"/>
                </a:solidFill>
                <a:latin typeface="Bodoni Moda Bold" pitchFamily="34" charset="0"/>
                <a:ea typeface="Bodoni Moda Bold" pitchFamily="34" charset="-122"/>
                <a:cs typeface="Bodoni Moda Bold" pitchFamily="34" charset="-120"/>
              </a:rPr>
              <a:t>Data-Driven Growth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371725" y="4554838"/>
            <a:ext cx="185737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Identifying new market opportunities through advanced predictive modeling</a:t>
            </a:r>
            <a:endParaRPr lang="en-US" sz="9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0613" y="754363"/>
            <a:ext cx="3571875" cy="39290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452930"/>
            <a:ext cx="38862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C7A6B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CHALLENGES &amp; GUARDRAILS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342900" y="738680"/>
            <a:ext cx="38862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750" b="1" dirty="0">
                <a:solidFill>
                  <a:srgbClr val="3A3A3A"/>
                </a:solidFill>
                <a:latin typeface="Bodoni Moda Black" pitchFamily="34" charset="0"/>
                <a:ea typeface="Bodoni Moda Black" pitchFamily="34" charset="-122"/>
                <a:cs typeface="Bodoni Moda Black" pitchFamily="34" charset="-120"/>
              </a:rPr>
              <a:t>Navigating the Risks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342900" y="1995980"/>
            <a:ext cx="388620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Acknowledging the limitations and failures of AI is essential for building safer, more resilient systems that respect human values and social responsibility.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342900" y="2810368"/>
            <a:ext cx="18573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8C7A6B"/>
                </a:solidFill>
                <a:latin typeface="Bodoni Moda Bold" pitchFamily="34" charset="0"/>
                <a:ea typeface="Bodoni Moda Bold" pitchFamily="34" charset="-122"/>
                <a:cs typeface="Bodoni Moda Bold" pitchFamily="34" charset="-120"/>
              </a:rPr>
              <a:t>Ethical Alignment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42900" y="3124693"/>
            <a:ext cx="185737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Controversies like Grok highlight the need for strict ethical guardrails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2371725" y="2810368"/>
            <a:ext cx="18573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8C7A6B"/>
                </a:solidFill>
                <a:latin typeface="Bodoni Moda Bold" pitchFamily="34" charset="0"/>
                <a:ea typeface="Bodoni Moda Bold" pitchFamily="34" charset="-122"/>
                <a:cs typeface="Bodoni Moda Bold" pitchFamily="34" charset="-120"/>
              </a:rPr>
              <a:t>Algorithmic Bias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371725" y="3124693"/>
            <a:ext cx="185737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Unvetted data can lead to discriminatory outcomes in critical sectors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42900" y="3836194"/>
            <a:ext cx="18573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8C7A6B"/>
                </a:solidFill>
                <a:latin typeface="Bodoni Moda Bold" pitchFamily="34" charset="0"/>
                <a:ea typeface="Bodoni Moda Bold" pitchFamily="34" charset="-122"/>
                <a:cs typeface="Bodoni Moda Bold" pitchFamily="34" charset="-120"/>
              </a:rPr>
              <a:t>Regulatory Oversight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42900" y="4150519"/>
            <a:ext cx="185737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Political and social intervention is vital for maintaining public trust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371725" y="3836194"/>
            <a:ext cx="18573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8C7A6B"/>
                </a:solidFill>
                <a:latin typeface="Bodoni Moda Bold" pitchFamily="34" charset="0"/>
                <a:ea typeface="Bodoni Moda Bold" pitchFamily="34" charset="-122"/>
                <a:cs typeface="Bodoni Moda Bold" pitchFamily="34" charset="-120"/>
              </a:rPr>
              <a:t>Social Responsibility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371725" y="4150519"/>
            <a:ext cx="185737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Ensuring AI development reflects the diverse values of global society</a:t>
            </a:r>
            <a:endParaRPr lang="en-US" sz="9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0613" y="607219"/>
            <a:ext cx="3571875" cy="392906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97428" y="-142875"/>
            <a:ext cx="860822" cy="19288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350" b="1" dirty="0">
                <a:solidFill>
                  <a:srgbClr val="3A3A3A">
                    <a:alpha val="5000"/>
                  </a:srgbClr>
                </a:solidFill>
                <a:latin typeface="Bodoni Moda Black" pitchFamily="34" charset="0"/>
                <a:ea typeface="Bodoni Moda Black" pitchFamily="34" charset="-122"/>
                <a:cs typeface="Bodoni Moda Black" pitchFamily="34" charset="-120"/>
              </a:rPr>
              <a:t>E</a:t>
            </a:r>
            <a:endParaRPr lang="en-US" sz="9350" dirty="0"/>
          </a:p>
        </p:txBody>
      </p:sp>
      <p:sp>
        <p:nvSpPr>
          <p:cNvPr id="4" name="Text 1"/>
          <p:cNvSpPr/>
          <p:nvPr/>
        </p:nvSpPr>
        <p:spPr>
          <a:xfrm>
            <a:off x="285750" y="392934"/>
            <a:ext cx="40576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C7A6B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GLOBAL IMPACT &amp; INCLUSION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285750" y="678684"/>
            <a:ext cx="405765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750" b="1" dirty="0">
                <a:solidFill>
                  <a:srgbClr val="3A3A3A"/>
                </a:solidFill>
                <a:latin typeface="Bodoni Moda Black" pitchFamily="34" charset="0"/>
                <a:ea typeface="Bodoni Moda Black" pitchFamily="34" charset="-122"/>
                <a:cs typeface="Bodoni Moda Black" pitchFamily="34" charset="-120"/>
              </a:rPr>
              <a:t>AI for Social Good</a:t>
            </a:r>
            <a:endParaRPr lang="en-US" sz="3750" dirty="0"/>
          </a:p>
        </p:txBody>
      </p:sp>
      <p:sp>
        <p:nvSpPr>
          <p:cNvPr id="6" name="Text 3"/>
          <p:cNvSpPr/>
          <p:nvPr/>
        </p:nvSpPr>
        <p:spPr>
          <a:xfrm>
            <a:off x="285750" y="1821684"/>
            <a:ext cx="405765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AI has the potential to democratize access to essential services and protect cultural heritage, ensuring that progress benefits the global population.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57200" y="2568206"/>
            <a:ext cx="3809405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8C7A6B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"The best way to predict the future is to create it,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2808219"/>
            <a:ext cx="3153966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8C7A6B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and the best way to create it is together."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3087523"/>
            <a:ext cx="38862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14286"/>
              </a:lnSpc>
              <a:buNone/>
            </a:pPr>
            <a:r>
              <a:rPr lang="en-US" sz="750" i="1" dirty="0">
                <a:solidFill>
                  <a:srgbClr val="8C7A6B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— Peter Drucker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285750" y="3344698"/>
            <a:ext cx="19716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A3A"/>
                </a:solidFill>
                <a:latin typeface="Bodoni Moda Bold" pitchFamily="34" charset="0"/>
                <a:ea typeface="Bodoni Moda Bold" pitchFamily="34" charset="-122"/>
                <a:cs typeface="Bodoni Moda Bold" pitchFamily="34" charset="-120"/>
              </a:rPr>
              <a:t>Bridging the Gap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85750" y="3630448"/>
            <a:ext cx="19716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Providing health services to 4.5 billion people lacking access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371725" y="3344698"/>
            <a:ext cx="19716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A3A"/>
                </a:solidFill>
                <a:latin typeface="Bodoni Moda Bold" pitchFamily="34" charset="0"/>
                <a:ea typeface="Bodoni Moda Bold" pitchFamily="34" charset="-122"/>
                <a:cs typeface="Bodoni Moda Bold" pitchFamily="34" charset="-120"/>
              </a:rPr>
              <a:t>Preserving Tradition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371725" y="3630448"/>
            <a:ext cx="19716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Cataloguing and protecting indigenous medical knowledge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85750" y="4104782"/>
            <a:ext cx="19716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A3A"/>
                </a:solidFill>
                <a:latin typeface="Bodoni Moda Bold" pitchFamily="34" charset="0"/>
                <a:ea typeface="Bodoni Moda Bold" pitchFamily="34" charset="-122"/>
                <a:cs typeface="Bodoni Moda Bold" pitchFamily="34" charset="-120"/>
              </a:rPr>
              <a:t>Inclusive Innovation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85750" y="4390532"/>
            <a:ext cx="19716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Ensuring AI reflects the diversity of the global population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2371725" y="4104782"/>
            <a:ext cx="19716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A3A"/>
                </a:solidFill>
                <a:latin typeface="Bodoni Moda Bold" pitchFamily="34" charset="0"/>
                <a:ea typeface="Bodoni Moda Bold" pitchFamily="34" charset="-122"/>
                <a:cs typeface="Bodoni Moda Bold" pitchFamily="34" charset="-120"/>
              </a:rPr>
              <a:t>Sustainable Progress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371725" y="4390532"/>
            <a:ext cx="19716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Aligning technology with long-term humanitarian goals</a:t>
            </a:r>
            <a:endParaRPr lang="en-US" sz="9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188" y="785813"/>
            <a:ext cx="3571875" cy="35718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3377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67042" y="-142875"/>
            <a:ext cx="1091208" cy="19288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350" b="1" dirty="0">
                <a:solidFill>
                  <a:srgbClr val="3A3A3A">
                    <a:alpha val="5000"/>
                  </a:srgbClr>
                </a:solidFill>
                <a:latin typeface="Bodoni Moda Black" pitchFamily="34" charset="0"/>
                <a:ea typeface="Bodoni Moda Black" pitchFamily="34" charset="-122"/>
                <a:cs typeface="Bodoni Moda Black" pitchFamily="34" charset="-120"/>
              </a:rPr>
              <a:t>H</a:t>
            </a:r>
            <a:endParaRPr lang="en-US" sz="9350" dirty="0"/>
          </a:p>
        </p:txBody>
      </p:sp>
      <p:sp>
        <p:nvSpPr>
          <p:cNvPr id="4" name="Text 1"/>
          <p:cNvSpPr/>
          <p:nvPr/>
        </p:nvSpPr>
        <p:spPr>
          <a:xfrm>
            <a:off x="285750" y="285750"/>
            <a:ext cx="40576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C7A6B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A COLLABORATIVE FUTURE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285750" y="571500"/>
            <a:ext cx="4057650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750" b="1" dirty="0">
                <a:solidFill>
                  <a:srgbClr val="3A3A3A"/>
                </a:solidFill>
                <a:latin typeface="Bodoni Moda Black" pitchFamily="34" charset="0"/>
                <a:ea typeface="Bodoni Moda Black" pitchFamily="34" charset="-122"/>
                <a:cs typeface="Bodoni Moda Black" pitchFamily="34" charset="-120"/>
              </a:rPr>
              <a:t>Embracing a Collaborative Future</a:t>
            </a:r>
            <a:endParaRPr lang="en-US" sz="3750" dirty="0"/>
          </a:p>
        </p:txBody>
      </p:sp>
      <p:sp>
        <p:nvSpPr>
          <p:cNvPr id="6" name="Text 3"/>
          <p:cNvSpPr/>
          <p:nvPr/>
        </p:nvSpPr>
        <p:spPr>
          <a:xfrm>
            <a:off x="285750" y="2228850"/>
            <a:ext cx="40576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The future of AI is not a race between humans and machines, but a partnership for collective progress. By combining AI's speed with human wisdom and empathy, we can create a sustainable and dignified future for all.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285750" y="3200400"/>
            <a:ext cx="4057650" cy="1851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800" b="1" dirty="0">
                <a:solidFill>
                  <a:srgbClr val="8C7A6B"/>
                </a:solidFill>
                <a:latin typeface="Bodoni Moda Bold" pitchFamily="34" charset="0"/>
                <a:ea typeface="Bodoni Moda Bold" pitchFamily="34" charset="-122"/>
                <a:cs typeface="Bodoni Moda Bold" pitchFamily="34" charset="-120"/>
              </a:rPr>
              <a:t>"The most profound technologies are those that disappear. They weave themselves into the fabric of everyday life until they are indistinguishable from it."</a:t>
            </a:r>
            <a:endParaRPr lang="en-US" sz="1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188" y="954388"/>
            <a:ext cx="3571875" cy="3429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2026-06-07T11:03:12Z</dcterms:created>
  <dcterms:modified xsi:type="dcterms:W3CDTF">2026-06-07T11:03:12Z</dcterms:modified>
</cp:coreProperties>
</file>